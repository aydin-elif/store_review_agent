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14D1F-AF03-47D6-B962-22C623690E15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8A6B7-340C-4595-A1B7-B9D19BC0AA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9257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8A6B7-340C-4595-A1B7-B9D19BC0AAF1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0434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B81ACE-356B-F96D-F372-066B7D9A9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ACD3044-48C5-1C92-2A82-5DD70684A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09E0018-9A1A-AFD1-858D-4E17307B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404D36F-2CCA-D1F0-9458-971A5AFB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025586D-E046-C9A5-4BE2-890BA820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672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78A05A-AE54-A90A-C368-075528D6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CC37AB-3EE7-88EE-6761-20F96B596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8EF386D-B091-9E47-FA63-ED60C162A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21022C0-E88D-F759-A745-EB890D48F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C040F34-67AA-A52B-A29D-599541C8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592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E1606F-E7A7-795F-E390-3ADF56CE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F2BE16A-A7DF-D16E-9139-C6C6AA2C6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B258BFC-2787-42C2-5919-C26368F5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7D6014-296B-B61E-89BF-95EDC59CF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E8E2609-70BB-3835-453B-63D0FB10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384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308EA6-5BAD-B5FB-8CDF-7420E7E5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DD26B4-9082-D54A-D665-2BE66695D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3127A50-261E-2846-9488-95699A30E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1B02244-C64A-E1BE-1672-A4DEBB763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D305D0D-7304-039B-B2F3-25C6A9E6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B03461E-ECD9-D03C-A564-FA1E0EB1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251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340DD9-11C6-05AB-AA4B-5435DAE1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190B3C7-4E32-E5C1-E4CB-499CB87F8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4CEB371-B60A-C4DA-A2A6-5EDA9D291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CB17EF8-A779-C129-92D0-FB46B9FCB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209F220-ECF8-86C9-C431-4FB21B6DD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A400ADC-F57E-F96D-AC13-29AA82FE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7097DEF-16F8-5BF5-C52B-B9A152D4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8EE38EF-C0CF-C569-D06D-4539690F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768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1CFC76-FBB4-080F-94ED-273A60BC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B04D249-B572-652D-BEB1-459DAF3F4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F5C528D-020C-B350-B946-8D9B69DF8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D3553A8-CC72-80B6-00C4-E894CA8E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259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4D441CA-E169-B3DE-7FC4-6A8816BC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111C676-F60C-DB60-2760-4A87B083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B743CB4-6DD8-E46F-3EF8-57AB0F8A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541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0D9801-1719-2735-A7B2-6220DDD6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28B769-4A12-8E73-8A71-BE2B0FD83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9D7DC99-E3CA-F86D-D932-3ACBB3532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35FA8CD-C782-2CE1-8980-3BA37238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AD53920-454E-187B-3A49-6DEAF94C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5CF9ED9-1F60-94C8-3714-80FF4482F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183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666FA5-1ECC-B4F4-62E9-8ED6EFFF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AA74772-35F0-BDB9-C12B-49E617A67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3548587-11E5-800E-B340-F6D9089ED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B41BED0-9D2E-6F90-7A5D-F1BBB919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E212D83-A69C-4EC0-F07C-C50F9081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A416556-3322-A0B0-D4B3-B92DD255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3979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427709-F0CF-52A5-A3A1-BE2FE74B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9C3160B-8A4B-4FA7-7150-33496922D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FEC54F-24E3-5DDA-6594-2494BB07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3130A3-3B08-A298-1BEF-7AD88E14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C3949DE-A0F1-62FC-8060-7F88A694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657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09F89C5-EC0B-042E-203E-4CBAA3231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CEAFACF-0F8F-1F33-6C8B-FFE46E780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79BF967-6898-32E5-519E-A014E028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AC532F1-FE93-690F-C45A-DAEEFFF1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524205E-6153-7D7C-76C5-88DA225D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550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2795E54-D511-E60D-7ABA-EB407F05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F0EE893-2A84-FE02-FE97-2028D2BDA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F57705B-7E1C-2529-F433-8197E46D4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7C2B6-B53B-4C2C-9A07-E57FE22E4E31}" type="datetimeFigureOut">
              <a:rPr lang="tr-TR" smtClean="0"/>
              <a:t>26.08.2026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9BDC3C9-231A-9D43-0221-B83150135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973AC3-156B-C7E9-FE0B-C53A27C4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EE94C-4FBA-4019-A3C6-475F0DD0C1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416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E192185D-78C9-5FF2-D03E-7B9F49E15ED7}"/>
              </a:ext>
            </a:extLst>
          </p:cNvPr>
          <p:cNvSpPr txBox="1"/>
          <p:nvPr/>
        </p:nvSpPr>
        <p:spPr>
          <a:xfrm>
            <a:off x="762000" y="19050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400" b="1" dirty="0">
                <a:solidFill>
                  <a:srgbClr val="F5A623"/>
                </a:solidFill>
                <a:latin typeface="Calibri" panose="020F0502020204030204" pitchFamily="34" charset="0"/>
              </a:rPr>
              <a:t>BTCTURK  ·  TEKNOLOJİ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8F525B9-8B44-83D7-AAC4-0F0D3A3B18A1}"/>
              </a:ext>
            </a:extLst>
          </p:cNvPr>
          <p:cNvSpPr txBox="1"/>
          <p:nvPr/>
        </p:nvSpPr>
        <p:spPr>
          <a:xfrm>
            <a:off x="762000" y="2478445"/>
            <a:ext cx="10668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4800" b="1" dirty="0" err="1">
                <a:solidFill>
                  <a:srgbClr val="EEF3FB"/>
                </a:solidFill>
                <a:latin typeface="Calibri" panose="020F0502020204030204" pitchFamily="34" charset="0"/>
              </a:rPr>
              <a:t>Store</a:t>
            </a:r>
            <a:r>
              <a:rPr lang="tr-TR" sz="4800" b="1" dirty="0">
                <a:solidFill>
                  <a:srgbClr val="EEF3FB"/>
                </a:solidFill>
                <a:latin typeface="Calibri" panose="020F0502020204030204" pitchFamily="34" charset="0"/>
              </a:rPr>
              <a:t> </a:t>
            </a:r>
            <a:r>
              <a:rPr lang="tr-TR" sz="4800" b="1" dirty="0" err="1">
                <a:solidFill>
                  <a:srgbClr val="EEF3FB"/>
                </a:solidFill>
                <a:latin typeface="Calibri" panose="020F0502020204030204" pitchFamily="34" charset="0"/>
              </a:rPr>
              <a:t>Review</a:t>
            </a:r>
            <a:r>
              <a:rPr lang="tr-TR" sz="4800" b="1" dirty="0">
                <a:solidFill>
                  <a:srgbClr val="EEF3FB"/>
                </a:solidFill>
                <a:latin typeface="Calibri" panose="020F0502020204030204" pitchFamily="34" charset="0"/>
              </a:rPr>
              <a:t> </a:t>
            </a:r>
            <a:r>
              <a:rPr lang="tr-TR" sz="4800" b="1" dirty="0" err="1">
                <a:solidFill>
                  <a:srgbClr val="EEF3FB"/>
                </a:solidFill>
                <a:latin typeface="Calibri" panose="020F0502020204030204" pitchFamily="34" charset="0"/>
              </a:rPr>
              <a:t>Intelligence</a:t>
            </a:r>
            <a:r>
              <a:rPr lang="tr-TR" sz="4800" b="1" dirty="0">
                <a:solidFill>
                  <a:srgbClr val="EEF3FB"/>
                </a:solidFill>
                <a:latin typeface="Calibri" panose="020F0502020204030204" pitchFamily="34" charset="0"/>
              </a:rPr>
              <a:t> Agent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CCCE77E-0FB4-E0AF-E6C6-ED68C9A61CEE}"/>
              </a:ext>
            </a:extLst>
          </p:cNvPr>
          <p:cNvSpPr txBox="1"/>
          <p:nvPr/>
        </p:nvSpPr>
        <p:spPr>
          <a:xfrm>
            <a:off x="762000" y="3810000"/>
            <a:ext cx="9906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000" dirty="0">
                <a:solidFill>
                  <a:srgbClr val="9AABC4"/>
                </a:solidFill>
                <a:latin typeface="Calibri" panose="020F0502020204030204" pitchFamily="34" charset="0"/>
              </a:rPr>
              <a:t>Mobil uygulama yorumlarını toplayan, yapay zeka ile analiz eden ve </a:t>
            </a:r>
            <a:r>
              <a:rPr lang="tr-TR" sz="2000" dirty="0" err="1">
                <a:solidFill>
                  <a:srgbClr val="9AABC4"/>
                </a:solidFill>
                <a:latin typeface="Calibri" panose="020F0502020204030204" pitchFamily="34" charset="0"/>
              </a:rPr>
              <a:t>Slack</a:t>
            </a:r>
            <a:r>
              <a:rPr lang="tr-TR" sz="2000" dirty="0">
                <a:solidFill>
                  <a:srgbClr val="9AABC4"/>
                </a:solidFill>
                <a:latin typeface="Calibri" panose="020F0502020204030204" pitchFamily="34" charset="0"/>
              </a:rPr>
              <a:t> üzerinden raporlayan iç platform.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4B21704-FB26-AC54-F4E6-47D998943416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8B19E73-07D2-8EF6-2931-4A07DF6B58C3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721624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30B28B64-42BD-7C3E-08F2-F02B4E400AD7}"/>
              </a:ext>
            </a:extLst>
          </p:cNvPr>
          <p:cNvSpPr/>
          <p:nvPr/>
        </p:nvSpPr>
        <p:spPr>
          <a:xfrm>
            <a:off x="2249948" y="1108586"/>
            <a:ext cx="7641303" cy="4820265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CA97718-6E64-9967-452E-46D0BAEAE198}"/>
              </a:ext>
            </a:extLst>
          </p:cNvPr>
          <p:cNvSpPr txBox="1"/>
          <p:nvPr/>
        </p:nvSpPr>
        <p:spPr>
          <a:xfrm>
            <a:off x="5162001" y="1686578"/>
            <a:ext cx="7029999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b="1" dirty="0">
                <a:solidFill>
                  <a:srgbClr val="F5A623"/>
                </a:solidFill>
                <a:latin typeface="Calibri" panose="020F0502020204030204" pitchFamily="34" charset="0"/>
              </a:rPr>
              <a:t>Hedef</a:t>
            </a:r>
            <a:endParaRPr lang="tr-TR" sz="1600" b="1" dirty="0">
              <a:solidFill>
                <a:srgbClr val="F5A62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31364F1-6F24-C794-F7A7-01576C14C42B}"/>
              </a:ext>
            </a:extLst>
          </p:cNvPr>
          <p:cNvSpPr txBox="1"/>
          <p:nvPr/>
        </p:nvSpPr>
        <p:spPr>
          <a:xfrm>
            <a:off x="2555599" y="2630947"/>
            <a:ext cx="7029999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dirty="0">
                <a:solidFill>
                  <a:srgbClr val="EEF3FB"/>
                </a:solidFill>
                <a:latin typeface="Calibri" panose="020F0502020204030204" pitchFamily="34" charset="0"/>
              </a:rPr>
              <a:t>• Tek boru hattı: çek → analiz et → bildir
• Kritik yorumlar anında </a:t>
            </a:r>
            <a:r>
              <a:rPr lang="tr-TR" sz="2800" dirty="0" err="1">
                <a:solidFill>
                  <a:srgbClr val="EEF3FB"/>
                </a:solidFill>
                <a:latin typeface="Calibri" panose="020F0502020204030204" pitchFamily="34" charset="0"/>
              </a:rPr>
              <a:t>Slack'e</a:t>
            </a:r>
            <a:r>
              <a:rPr lang="tr-TR" sz="2800" dirty="0">
                <a:solidFill>
                  <a:srgbClr val="EEF3FB"/>
                </a:solidFill>
                <a:latin typeface="Calibri" panose="020F0502020204030204" pitchFamily="34" charset="0"/>
              </a:rPr>
              <a:t> düşsün
• Yeni uygulama eklemek kod değiştirmesin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148B3B9-6040-FF4A-BFEC-E2E3B725E6B9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6180E20C-5766-ABEE-DCDE-1EECB81CF036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396168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8FFF8EC2-78B3-7F90-AF7A-7BF543A46B03}"/>
              </a:ext>
            </a:extLst>
          </p:cNvPr>
          <p:cNvSpPr txBox="1"/>
          <p:nvPr/>
        </p:nvSpPr>
        <p:spPr>
          <a:xfrm>
            <a:off x="762000" y="457200"/>
            <a:ext cx="1066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300" b="1">
                <a:solidFill>
                  <a:srgbClr val="F5A623"/>
                </a:solidFill>
                <a:latin typeface="Calibri" panose="020F0502020204030204" pitchFamily="34" charset="0"/>
              </a:rPr>
              <a:t>NE YAPIYOR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56D42D8-1F10-70ED-F133-1B6845F05106}"/>
              </a:ext>
            </a:extLst>
          </p:cNvPr>
          <p:cNvSpPr txBox="1"/>
          <p:nvPr/>
        </p:nvSpPr>
        <p:spPr>
          <a:xfrm>
            <a:off x="762000" y="812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b="1">
                <a:solidFill>
                  <a:srgbClr val="EEF3FB"/>
                </a:solidFill>
                <a:latin typeface="Calibri" panose="020F0502020204030204" pitchFamily="34" charset="0"/>
              </a:rPr>
              <a:t>Uçtan uca yorum istihbaratı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483528C-CF40-A19E-3E0A-8FC30B2D1BE4}"/>
              </a:ext>
            </a:extLst>
          </p:cNvPr>
          <p:cNvSpPr txBox="1"/>
          <p:nvPr/>
        </p:nvSpPr>
        <p:spPr>
          <a:xfrm>
            <a:off x="762000" y="17780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 dirty="0">
                <a:solidFill>
                  <a:srgbClr val="F5A623"/>
                </a:solidFill>
                <a:latin typeface="Calibri" panose="020F0502020204030204" pitchFamily="34" charset="0"/>
              </a:rPr>
              <a:t>API  →  </a:t>
            </a:r>
            <a:r>
              <a:rPr lang="tr-TR" sz="1600" b="1" dirty="0" err="1">
                <a:solidFill>
                  <a:srgbClr val="F5A623"/>
                </a:solidFill>
                <a:latin typeface="Calibri" panose="020F0502020204030204" pitchFamily="34" charset="0"/>
              </a:rPr>
              <a:t>Hangfire</a:t>
            </a:r>
            <a:r>
              <a:rPr lang="tr-TR" sz="1600" b="1" dirty="0">
                <a:solidFill>
                  <a:srgbClr val="F5A623"/>
                </a:solidFill>
                <a:latin typeface="Calibri" panose="020F0502020204030204" pitchFamily="34" charset="0"/>
              </a:rPr>
              <a:t> →  Claude </a:t>
            </a:r>
            <a:r>
              <a:rPr lang="tr-TR" sz="1600" b="1" dirty="0" err="1">
                <a:solidFill>
                  <a:srgbClr val="F5A623"/>
                </a:solidFill>
                <a:latin typeface="Calibri" panose="020F0502020204030204" pitchFamily="34" charset="0"/>
              </a:rPr>
              <a:t>Sonnet</a:t>
            </a:r>
            <a:r>
              <a:rPr lang="tr-TR" sz="1600" b="1" dirty="0">
                <a:solidFill>
                  <a:srgbClr val="F5A623"/>
                </a:solidFill>
                <a:latin typeface="Calibri" panose="020F0502020204030204" pitchFamily="34" charset="0"/>
              </a:rPr>
              <a:t> 4.6  →  </a:t>
            </a:r>
            <a:r>
              <a:rPr lang="tr-TR" sz="1600" b="1" dirty="0" err="1">
                <a:solidFill>
                  <a:srgbClr val="F5A623"/>
                </a:solidFill>
                <a:latin typeface="Calibri" panose="020F0502020204030204" pitchFamily="34" charset="0"/>
              </a:rPr>
              <a:t>MongoDB</a:t>
            </a:r>
            <a:r>
              <a:rPr lang="tr-TR" sz="1600" b="1" dirty="0">
                <a:solidFill>
                  <a:srgbClr val="F5A623"/>
                </a:solidFill>
                <a:latin typeface="Calibri" panose="020F0502020204030204" pitchFamily="34" charset="0"/>
              </a:rPr>
              <a:t>  →  </a:t>
            </a:r>
            <a:r>
              <a:rPr lang="tr-TR" sz="1600" b="1" dirty="0" err="1">
                <a:solidFill>
                  <a:srgbClr val="F5A623"/>
                </a:solidFill>
                <a:latin typeface="Calibri" panose="020F0502020204030204" pitchFamily="34" charset="0"/>
              </a:rPr>
              <a:t>Slack</a:t>
            </a:r>
            <a:endParaRPr lang="tr-TR" sz="1600" b="1" dirty="0">
              <a:solidFill>
                <a:srgbClr val="F5A62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70C9377-65E2-018A-023D-C02164F39A9E}"/>
              </a:ext>
            </a:extLst>
          </p:cNvPr>
          <p:cNvSpPr txBox="1"/>
          <p:nvPr/>
        </p:nvSpPr>
        <p:spPr>
          <a:xfrm>
            <a:off x="762000" y="2794000"/>
            <a:ext cx="10668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000">
                <a:solidFill>
                  <a:srgbClr val="EEF3FB"/>
                </a:solidFill>
                <a:latin typeface="Calibri" panose="020F0502020204030204" pitchFamily="34" charset="0"/>
              </a:rPr>
              <a:t>• Sentiment, kategori, öncelik skoru (1-5)
• Günlük özet + Pazartesi haftalık özet
• Öncelik &gt;= 4 ise anlık kritik alert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EB64FAB-590D-4C8F-7215-C95BCBEFE120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B7C5A61-709A-1669-3896-8259740B85FA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257531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825CEBC2-1958-B0E3-CCA5-93B820679376}"/>
              </a:ext>
            </a:extLst>
          </p:cNvPr>
          <p:cNvSpPr txBox="1"/>
          <p:nvPr/>
        </p:nvSpPr>
        <p:spPr>
          <a:xfrm>
            <a:off x="762000" y="457200"/>
            <a:ext cx="1066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300" b="1">
                <a:solidFill>
                  <a:srgbClr val="F5A623"/>
                </a:solidFill>
                <a:latin typeface="Calibri" panose="020F0502020204030204" pitchFamily="34" charset="0"/>
              </a:rPr>
              <a:t>TASARIM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77819E2-E8D6-2C9E-92EE-4D9E6D5643CB}"/>
              </a:ext>
            </a:extLst>
          </p:cNvPr>
          <p:cNvSpPr txBox="1"/>
          <p:nvPr/>
        </p:nvSpPr>
        <p:spPr>
          <a:xfrm>
            <a:off x="762000" y="812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b="1">
                <a:solidFill>
                  <a:srgbClr val="EEF3FB"/>
                </a:solidFill>
                <a:latin typeface="Calibri" panose="020F0502020204030204" pitchFamily="34" charset="0"/>
              </a:rPr>
              <a:t>Uygulamalar koda gömülü değil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20F0D1D-84A9-A50A-BEBD-5994AD20B81F}"/>
              </a:ext>
            </a:extLst>
          </p:cNvPr>
          <p:cNvSpPr txBox="1"/>
          <p:nvPr/>
        </p:nvSpPr>
        <p:spPr>
          <a:xfrm>
            <a:off x="762000" y="1524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>
                <a:solidFill>
                  <a:srgbClr val="9AABC4"/>
                </a:solidFill>
                <a:latin typeface="Calibri" panose="020F0502020204030204" pitchFamily="34" charset="0"/>
              </a:rPr>
              <a:t>Kripto, Hisse, Global, Bithero… hepsi MongoDB apps koleksiyonunda.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7C4768BD-4840-23E7-A1F4-51384A7BFFDB}"/>
              </a:ext>
            </a:extLst>
          </p:cNvPr>
          <p:cNvSpPr/>
          <p:nvPr/>
        </p:nvSpPr>
        <p:spPr>
          <a:xfrm>
            <a:off x="762000" y="2540000"/>
            <a:ext cx="5080000" cy="279400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CBEFF7E-5AD2-F1B7-0E36-88DABE191EFE}"/>
              </a:ext>
            </a:extLst>
          </p:cNvPr>
          <p:cNvSpPr txBox="1"/>
          <p:nvPr/>
        </p:nvSpPr>
        <p:spPr>
          <a:xfrm>
            <a:off x="965200" y="2692400"/>
            <a:ext cx="4673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Yeni uygulama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434D432-801C-E430-B029-4FB2998D01AF}"/>
              </a:ext>
            </a:extLst>
          </p:cNvPr>
          <p:cNvSpPr txBox="1"/>
          <p:nvPr/>
        </p:nvSpPr>
        <p:spPr>
          <a:xfrm>
            <a:off x="965200" y="3098800"/>
            <a:ext cx="46736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500">
                <a:solidFill>
                  <a:srgbClr val="EEF3FB"/>
                </a:solidFill>
                <a:latin typeface="Calibri" panose="020F0502020204030204" pitchFamily="34" charset="0"/>
              </a:rPr>
              <a:t>Koleksiyona kayıt eklemek yeterli. Kod değişikliği yok.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58B6FE4-BA36-812A-AC44-E19B0D0103AB}"/>
              </a:ext>
            </a:extLst>
          </p:cNvPr>
          <p:cNvSpPr/>
          <p:nvPr/>
        </p:nvSpPr>
        <p:spPr>
          <a:xfrm>
            <a:off x="6350000" y="2540000"/>
            <a:ext cx="5080000" cy="279400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9CFCF4C-0AB7-73FB-71C9-F8B95CA37A2D}"/>
              </a:ext>
            </a:extLst>
          </p:cNvPr>
          <p:cNvSpPr txBox="1"/>
          <p:nvPr/>
        </p:nvSpPr>
        <p:spPr>
          <a:xfrm>
            <a:off x="6553200" y="2692400"/>
            <a:ext cx="4673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Aktiflik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F9788BD-BB06-4B0E-BD12-9A3A4228E3D3}"/>
              </a:ext>
            </a:extLst>
          </p:cNvPr>
          <p:cNvSpPr txBox="1"/>
          <p:nvPr/>
        </p:nvSpPr>
        <p:spPr>
          <a:xfrm>
            <a:off x="6553200" y="3098800"/>
            <a:ext cx="46736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500">
                <a:solidFill>
                  <a:srgbClr val="EEF3FB"/>
                </a:solidFill>
                <a:latin typeface="Calibri" panose="020F0502020204030204" pitchFamily="34" charset="0"/>
              </a:rPr>
              <a:t>Seed'de Bithero aktif; diğerleri kapalı. Gerçek veri gelince aynı hat çalışır.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E7879268-CB4F-4AD3-E97F-289F0BCD2B51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16B41CE-8932-5CC7-9758-650A3A708024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2845741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5B051F11-3936-AD49-DCA5-D3774EAFDA1E}"/>
              </a:ext>
            </a:extLst>
          </p:cNvPr>
          <p:cNvSpPr txBox="1"/>
          <p:nvPr/>
        </p:nvSpPr>
        <p:spPr>
          <a:xfrm>
            <a:off x="762000" y="457200"/>
            <a:ext cx="1066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300" b="1">
                <a:solidFill>
                  <a:srgbClr val="F5A623"/>
                </a:solidFill>
                <a:latin typeface="Calibri" panose="020F0502020204030204" pitchFamily="34" charset="0"/>
              </a:rPr>
              <a:t>MİMARİ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EF8CA0F-2876-24D4-DA53-194BA326B9D6}"/>
              </a:ext>
            </a:extLst>
          </p:cNvPr>
          <p:cNvSpPr txBox="1"/>
          <p:nvPr/>
        </p:nvSpPr>
        <p:spPr>
          <a:xfrm>
            <a:off x="762000" y="812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b="1">
                <a:solidFill>
                  <a:srgbClr val="EEF3FB"/>
                </a:solidFill>
                <a:latin typeface="Calibri" panose="020F0502020204030204" pitchFamily="34" charset="0"/>
              </a:rPr>
              <a:t>Katmanlar değiştirilebilir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ED5C78A-BAB9-78C6-9ED9-27C13832D651}"/>
              </a:ext>
            </a:extLst>
          </p:cNvPr>
          <p:cNvSpPr/>
          <p:nvPr/>
        </p:nvSpPr>
        <p:spPr>
          <a:xfrm>
            <a:off x="762000" y="1905000"/>
            <a:ext cx="3429000" cy="292100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873A11F-7047-3556-F1B3-C57E86748F99}"/>
              </a:ext>
            </a:extLst>
          </p:cNvPr>
          <p:cNvSpPr txBox="1"/>
          <p:nvPr/>
        </p:nvSpPr>
        <p:spPr>
          <a:xfrm>
            <a:off x="965200" y="20574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Kaynak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9A59D67-F900-081E-F95C-A283B8891217}"/>
              </a:ext>
            </a:extLst>
          </p:cNvPr>
          <p:cNvSpPr txBox="1"/>
          <p:nvPr/>
        </p:nvSpPr>
        <p:spPr>
          <a:xfrm>
            <a:off x="965200" y="2463800"/>
            <a:ext cx="30226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EEF3FB"/>
                </a:solidFill>
                <a:latin typeface="Calibri" panose="020F0502020204030204" pitchFamily="34" charset="0"/>
              </a:rPr>
              <a:t>IReviewProvider
Mock → Demo → App Store / Play</a:t>
            </a:r>
            <a:endParaRPr lang="tr-TR" sz="1500">
              <a:solidFill>
                <a:srgbClr val="EEF3F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6FC07EC-E72B-FE42-17F0-19C2F863088A}"/>
              </a:ext>
            </a:extLst>
          </p:cNvPr>
          <p:cNvSpPr/>
          <p:nvPr/>
        </p:nvSpPr>
        <p:spPr>
          <a:xfrm>
            <a:off x="4381500" y="1905000"/>
            <a:ext cx="3429000" cy="292100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2B81E0C-97F3-32F3-1539-8A95F9AD1F50}"/>
              </a:ext>
            </a:extLst>
          </p:cNvPr>
          <p:cNvSpPr txBox="1"/>
          <p:nvPr/>
        </p:nvSpPr>
        <p:spPr>
          <a:xfrm>
            <a:off x="4584700" y="20574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Analiz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17C2614-BD49-E016-CB6D-520E5E3D3535}"/>
              </a:ext>
            </a:extLst>
          </p:cNvPr>
          <p:cNvSpPr txBox="1"/>
          <p:nvPr/>
        </p:nvSpPr>
        <p:spPr>
          <a:xfrm>
            <a:off x="4584700" y="2463800"/>
            <a:ext cx="30226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500">
                <a:solidFill>
                  <a:srgbClr val="EEF3FB"/>
                </a:solidFill>
                <a:latin typeface="Calibri" panose="020F0502020204030204" pitchFamily="34" charset="0"/>
              </a:rPr>
              <a:t>ISentimentAnalyzer
Mock veya Claude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5675369-D95F-1FB8-EB0C-CB20F6ADE049}"/>
              </a:ext>
            </a:extLst>
          </p:cNvPr>
          <p:cNvSpPr/>
          <p:nvPr/>
        </p:nvSpPr>
        <p:spPr>
          <a:xfrm>
            <a:off x="8001000" y="1905000"/>
            <a:ext cx="3429000" cy="292100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009F9CB5-C23D-220B-4172-273A7B3BE22C}"/>
              </a:ext>
            </a:extLst>
          </p:cNvPr>
          <p:cNvSpPr txBox="1"/>
          <p:nvPr/>
        </p:nvSpPr>
        <p:spPr>
          <a:xfrm>
            <a:off x="8204200" y="20574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Bildirim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EC7512B-5C93-F307-7438-3DF55366E665}"/>
              </a:ext>
            </a:extLst>
          </p:cNvPr>
          <p:cNvSpPr txBox="1"/>
          <p:nvPr/>
        </p:nvSpPr>
        <p:spPr>
          <a:xfrm>
            <a:off x="8204200" y="2463800"/>
            <a:ext cx="30226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EEF3FB"/>
                </a:solidFill>
                <a:latin typeface="Calibri" panose="020F0502020204030204" pitchFamily="34" charset="0"/>
              </a:rPr>
              <a:t>ISlackNotifier
Console veya chat.postMessage</a:t>
            </a:r>
            <a:endParaRPr lang="tr-TR" sz="1500">
              <a:solidFill>
                <a:srgbClr val="EEF3FB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B8F4B7D-74CC-6390-D9F4-3057C45B44D9}"/>
              </a:ext>
            </a:extLst>
          </p:cNvPr>
          <p:cNvSpPr txBox="1"/>
          <p:nvPr/>
        </p:nvSpPr>
        <p:spPr>
          <a:xfrm>
            <a:off x="762000" y="52070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>
                <a:solidFill>
                  <a:srgbClr val="9AABC4"/>
                </a:solidFill>
                <a:latin typeface="Calibri" panose="020F0502020204030204" pitchFamily="34" charset="0"/>
              </a:rPr>
              <a:t>Anahtar yoksa sistem çökmez, mock'a düşer. AI ve Slack şu an gerçek serviste.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CAA6DBDF-7B9B-0D81-7A20-4832B0252A59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8DA0810B-5E9B-231A-0E99-F0FB8507B044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370941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8D8A5FE6-3F07-2404-D332-EA8F23CF253B}"/>
              </a:ext>
            </a:extLst>
          </p:cNvPr>
          <p:cNvSpPr txBox="1"/>
          <p:nvPr/>
        </p:nvSpPr>
        <p:spPr>
          <a:xfrm>
            <a:off x="762000" y="457200"/>
            <a:ext cx="1066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300" b="1">
                <a:solidFill>
                  <a:srgbClr val="F5A623"/>
                </a:solidFill>
                <a:latin typeface="Calibri" panose="020F0502020204030204" pitchFamily="34" charset="0"/>
              </a:rPr>
              <a:t>AI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6ABC5A0-DFB6-BE6E-FA5B-C412B702CEAF}"/>
              </a:ext>
            </a:extLst>
          </p:cNvPr>
          <p:cNvSpPr txBox="1"/>
          <p:nvPr/>
        </p:nvSpPr>
        <p:spPr>
          <a:xfrm>
            <a:off x="762000" y="812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b="1">
                <a:solidFill>
                  <a:srgbClr val="EEF3FB"/>
                </a:solidFill>
                <a:latin typeface="Calibri" panose="020F0502020204030204" pitchFamily="34" charset="0"/>
              </a:rPr>
              <a:t>Her yorum yapılandırılmış analiz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19A74C6-5C33-C265-57B0-D5473CB8DC46}"/>
              </a:ext>
            </a:extLst>
          </p:cNvPr>
          <p:cNvSpPr/>
          <p:nvPr/>
        </p:nvSpPr>
        <p:spPr>
          <a:xfrm>
            <a:off x="762000" y="1905000"/>
            <a:ext cx="5481484" cy="2411361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5EFE2B7-8E85-1AFF-A8F9-0F9349B7C338}"/>
              </a:ext>
            </a:extLst>
          </p:cNvPr>
          <p:cNvSpPr txBox="1"/>
          <p:nvPr/>
        </p:nvSpPr>
        <p:spPr>
          <a:xfrm>
            <a:off x="965200" y="2057400"/>
            <a:ext cx="4673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Çıktı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8D73844-1CF6-29CB-81D3-2159416C52FC}"/>
              </a:ext>
            </a:extLst>
          </p:cNvPr>
          <p:cNvSpPr txBox="1"/>
          <p:nvPr/>
        </p:nvSpPr>
        <p:spPr>
          <a:xfrm>
            <a:off x="965200" y="2158236"/>
            <a:ext cx="6310671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tr-T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15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</a:t>
            </a:r>
            <a:r>
              <a:rPr lang="tr-T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tr-TR" sz="15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</a:t>
            </a:r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r>
              <a:rPr lang="tr-TR" sz="15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r>
              <a:rPr lang="tr-T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tr-TR" sz="15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bug</a:t>
            </a:r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r>
              <a:rPr lang="tr-TR" sz="15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priorityScore</a:t>
            </a:r>
            <a:r>
              <a:rPr lang="tr-T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  <a:p>
            <a:r>
              <a:rPr lang="tr-TR" sz="15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r>
              <a:rPr lang="tr-T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"Uygulama giriş ekranından sonra donarak çöküyor ve </a:t>
            </a:r>
          </a:p>
          <a:p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kullanıcı iki gündü…"</a:t>
            </a:r>
          </a:p>
          <a:p>
            <a:r>
              <a:rPr lang="tr-TR" sz="15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analyzedAt</a:t>
            </a:r>
            <a:r>
              <a:rPr lang="tr-T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2026-08-24T10:19:39.906+00:00</a:t>
            </a:r>
          </a:p>
          <a:p>
            <a:r>
              <a:rPr lang="tr-TR" sz="15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modelVersion</a:t>
            </a:r>
            <a:r>
              <a:rPr lang="tr-T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tr-TR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"claude-sonnet-4-6"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24F3ECD7-DEC3-F278-5E6F-BDFB0C3AC935}"/>
              </a:ext>
            </a:extLst>
          </p:cNvPr>
          <p:cNvSpPr/>
          <p:nvPr/>
        </p:nvSpPr>
        <p:spPr>
          <a:xfrm>
            <a:off x="6350000" y="1905000"/>
            <a:ext cx="5080000" cy="1034845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DDA5D09-C66F-EB0E-1A88-BFBF4C813F1E}"/>
              </a:ext>
            </a:extLst>
          </p:cNvPr>
          <p:cNvSpPr txBox="1"/>
          <p:nvPr/>
        </p:nvSpPr>
        <p:spPr>
          <a:xfrm>
            <a:off x="6553200" y="2057400"/>
            <a:ext cx="4673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 dirty="0">
                <a:solidFill>
                  <a:srgbClr val="F5A623"/>
                </a:solidFill>
                <a:latin typeface="Calibri" panose="020F0502020204030204" pitchFamily="34" charset="0"/>
              </a:rPr>
              <a:t>Çoklu Dil Desteği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C2319E9-9C7A-B529-194A-CFDBE6D216EE}"/>
              </a:ext>
            </a:extLst>
          </p:cNvPr>
          <p:cNvSpPr txBox="1"/>
          <p:nvPr/>
        </p:nvSpPr>
        <p:spPr>
          <a:xfrm>
            <a:off x="6553200" y="2463800"/>
            <a:ext cx="46736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500" dirty="0">
                <a:solidFill>
                  <a:srgbClr val="EEF3FB"/>
                </a:solidFill>
                <a:latin typeface="Calibri" panose="020F0502020204030204" pitchFamily="34" charset="0"/>
              </a:rPr>
              <a:t>Yorum EN / AR / TR olsa da </a:t>
            </a:r>
            <a:r>
              <a:rPr lang="tr-TR" sz="1500" dirty="0" err="1">
                <a:solidFill>
                  <a:srgbClr val="EEF3FB"/>
                </a:solidFill>
                <a:latin typeface="Calibri" panose="020F0502020204030204" pitchFamily="34" charset="0"/>
              </a:rPr>
              <a:t>Slack</a:t>
            </a:r>
            <a:r>
              <a:rPr lang="tr-TR" sz="1500" dirty="0">
                <a:solidFill>
                  <a:srgbClr val="EEF3FB"/>
                </a:solidFill>
                <a:latin typeface="Calibri" panose="020F0502020204030204" pitchFamily="34" charset="0"/>
              </a:rPr>
              <a:t> özeti her zaman Türkçe.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C55E731-3A05-378B-703E-514681820019}"/>
              </a:ext>
            </a:extLst>
          </p:cNvPr>
          <p:cNvSpPr txBox="1"/>
          <p:nvPr/>
        </p:nvSpPr>
        <p:spPr>
          <a:xfrm>
            <a:off x="909484" y="5763568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dirty="0">
                <a:solidFill>
                  <a:srgbClr val="9AABC4"/>
                </a:solidFill>
                <a:latin typeface="Calibri" panose="020F0502020204030204" pitchFamily="34" charset="0"/>
              </a:rPr>
              <a:t>Doğrulandı: İngilizce çökme yorumu → </a:t>
            </a:r>
            <a:r>
              <a:rPr lang="tr-TR" sz="1600" dirty="0" err="1">
                <a:solidFill>
                  <a:srgbClr val="9AABC4"/>
                </a:solidFill>
                <a:latin typeface="Calibri" panose="020F0502020204030204" pitchFamily="34" charset="0"/>
              </a:rPr>
              <a:t>negative</a:t>
            </a:r>
            <a:r>
              <a:rPr lang="tr-TR" sz="1600" dirty="0">
                <a:solidFill>
                  <a:srgbClr val="9AABC4"/>
                </a:solidFill>
                <a:latin typeface="Calibri" panose="020F0502020204030204" pitchFamily="34" charset="0"/>
              </a:rPr>
              <a:t> / </a:t>
            </a:r>
            <a:r>
              <a:rPr lang="tr-TR" sz="1600" dirty="0" err="1">
                <a:solidFill>
                  <a:srgbClr val="9AABC4"/>
                </a:solidFill>
                <a:latin typeface="Calibri" panose="020F0502020204030204" pitchFamily="34" charset="0"/>
              </a:rPr>
              <a:t>bug</a:t>
            </a:r>
            <a:r>
              <a:rPr lang="tr-TR" sz="1600" dirty="0">
                <a:solidFill>
                  <a:srgbClr val="9AABC4"/>
                </a:solidFill>
                <a:latin typeface="Calibri" panose="020F0502020204030204" pitchFamily="34" charset="0"/>
              </a:rPr>
              <a:t> / 5. Arapça övgü → </a:t>
            </a:r>
            <a:r>
              <a:rPr lang="tr-TR" sz="1600" dirty="0" err="1">
                <a:solidFill>
                  <a:srgbClr val="9AABC4"/>
                </a:solidFill>
                <a:latin typeface="Calibri" panose="020F0502020204030204" pitchFamily="34" charset="0"/>
              </a:rPr>
              <a:t>positive</a:t>
            </a:r>
            <a:r>
              <a:rPr lang="tr-TR" sz="1600" dirty="0">
                <a:solidFill>
                  <a:srgbClr val="9AABC4"/>
                </a:solidFill>
                <a:latin typeface="Calibri" panose="020F0502020204030204" pitchFamily="34" charset="0"/>
              </a:rPr>
              <a:t> / </a:t>
            </a:r>
            <a:r>
              <a:rPr lang="tr-TR" sz="1600" dirty="0" err="1">
                <a:solidFill>
                  <a:srgbClr val="9AABC4"/>
                </a:solidFill>
                <a:latin typeface="Calibri" panose="020F0502020204030204" pitchFamily="34" charset="0"/>
              </a:rPr>
              <a:t>ux</a:t>
            </a:r>
            <a:r>
              <a:rPr lang="tr-TR" sz="1600" dirty="0">
                <a:solidFill>
                  <a:srgbClr val="9AABC4"/>
                </a:solidFill>
                <a:latin typeface="Calibri" panose="020F0502020204030204" pitchFamily="34" charset="0"/>
              </a:rPr>
              <a:t> / 1.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EC2226B2-C6DC-6356-8F1E-0E0F6BD19512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B1E341C1-5619-81B1-4CB2-C6F9E4BBBB2D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506643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9ACC8FA7-1CD6-63CF-59AA-F32EEDA6A4AD}"/>
              </a:ext>
            </a:extLst>
          </p:cNvPr>
          <p:cNvSpPr txBox="1"/>
          <p:nvPr/>
        </p:nvSpPr>
        <p:spPr>
          <a:xfrm>
            <a:off x="762000" y="457200"/>
            <a:ext cx="1066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300" b="1">
                <a:solidFill>
                  <a:srgbClr val="F5A623"/>
                </a:solidFill>
                <a:latin typeface="Calibri" panose="020F0502020204030204" pitchFamily="34" charset="0"/>
              </a:rPr>
              <a:t>SLACK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0C5C0CFF-EFA7-DDEC-80E8-CBC0D4C426EA}"/>
              </a:ext>
            </a:extLst>
          </p:cNvPr>
          <p:cNvSpPr txBox="1"/>
          <p:nvPr/>
        </p:nvSpPr>
        <p:spPr>
          <a:xfrm>
            <a:off x="762000" y="812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b="1" dirty="0">
                <a:solidFill>
                  <a:srgbClr val="EEF3FB"/>
                </a:solidFill>
                <a:latin typeface="Calibri" panose="020F0502020204030204" pitchFamily="34" charset="0"/>
              </a:rPr>
              <a:t>Ekip kanalda görür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5F037FD-E37A-0F8E-B0C7-C3D6305C9389}"/>
              </a:ext>
            </a:extLst>
          </p:cNvPr>
          <p:cNvSpPr/>
          <p:nvPr/>
        </p:nvSpPr>
        <p:spPr>
          <a:xfrm>
            <a:off x="762000" y="1905000"/>
            <a:ext cx="3429000" cy="292100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ED1A410-DF56-EC1C-1E70-1D2E30584305}"/>
              </a:ext>
            </a:extLst>
          </p:cNvPr>
          <p:cNvSpPr txBox="1"/>
          <p:nvPr/>
        </p:nvSpPr>
        <p:spPr>
          <a:xfrm>
            <a:off x="965200" y="20574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Kritik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199C62C-FECC-227A-E98A-DB340E73F916}"/>
              </a:ext>
            </a:extLst>
          </p:cNvPr>
          <p:cNvSpPr txBox="1"/>
          <p:nvPr/>
        </p:nvSpPr>
        <p:spPr>
          <a:xfrm>
            <a:off x="965200" y="2463800"/>
            <a:ext cx="30226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500">
                <a:solidFill>
                  <a:srgbClr val="EEF3FB"/>
                </a:solidFill>
                <a:latin typeface="Calibri" panose="020F0502020204030204" pitchFamily="34" charset="0"/>
              </a:rPr>
              <a:t>Öncelik &gt;= 4.
Aynı yorum ikinci kez gitmez (alert_log).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6F7B461-A45D-74DB-6156-A8519E3EC670}"/>
              </a:ext>
            </a:extLst>
          </p:cNvPr>
          <p:cNvSpPr/>
          <p:nvPr/>
        </p:nvSpPr>
        <p:spPr>
          <a:xfrm>
            <a:off x="4381500" y="1905000"/>
            <a:ext cx="3429000" cy="292100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B9A1630C-82D2-1138-A7FE-EB0584D340C6}"/>
              </a:ext>
            </a:extLst>
          </p:cNvPr>
          <p:cNvSpPr txBox="1"/>
          <p:nvPr/>
        </p:nvSpPr>
        <p:spPr>
          <a:xfrm>
            <a:off x="4584700" y="20574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Günlük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274BBD2-9CCF-19D9-B1D3-FA77F24C0277}"/>
              </a:ext>
            </a:extLst>
          </p:cNvPr>
          <p:cNvSpPr txBox="1"/>
          <p:nvPr/>
        </p:nvSpPr>
        <p:spPr>
          <a:xfrm>
            <a:off x="4584700" y="2463800"/>
            <a:ext cx="30226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500">
                <a:solidFill>
                  <a:srgbClr val="EEF3FB"/>
                </a:solidFill>
                <a:latin typeface="Calibri" panose="020F0502020204030204" pitchFamily="34" charset="0"/>
              </a:rPr>
              <a:t>Tur özeti: hacim, duygu, kategori, top 5.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1F5C053-17D0-3CC5-471F-89A1D80B5FE1}"/>
              </a:ext>
            </a:extLst>
          </p:cNvPr>
          <p:cNvSpPr/>
          <p:nvPr/>
        </p:nvSpPr>
        <p:spPr>
          <a:xfrm>
            <a:off x="8001000" y="1905000"/>
            <a:ext cx="3429000" cy="292100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48E5EC5A-FB89-37E9-9E75-E8F8F1CC145C}"/>
              </a:ext>
            </a:extLst>
          </p:cNvPr>
          <p:cNvSpPr txBox="1"/>
          <p:nvPr/>
        </p:nvSpPr>
        <p:spPr>
          <a:xfrm>
            <a:off x="8204200" y="20574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 b="1">
                <a:solidFill>
                  <a:srgbClr val="F5A623"/>
                </a:solidFill>
                <a:latin typeface="Calibri" panose="020F0502020204030204" pitchFamily="34" charset="0"/>
              </a:rPr>
              <a:t>Haftalık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855787B-F1EA-C145-574B-CE1DD5424B0A}"/>
              </a:ext>
            </a:extLst>
          </p:cNvPr>
          <p:cNvSpPr txBox="1"/>
          <p:nvPr/>
        </p:nvSpPr>
        <p:spPr>
          <a:xfrm>
            <a:off x="8204200" y="2463800"/>
            <a:ext cx="30226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1500">
                <a:solidFill>
                  <a:srgbClr val="EEF3FB"/>
                </a:solidFill>
                <a:latin typeface="Calibri" panose="020F0502020204030204" pitchFamily="34" charset="0"/>
              </a:rPr>
              <a:t>Pazartesi 09:00, son 7 günün aggregate'i.</a:t>
            </a:r>
            <a:endParaRPr lang="tr-TR" sz="1500">
              <a:solidFill>
                <a:srgbClr val="EEF3FB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47031BD4-AD62-F2F5-0398-ADDD84456E66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E7FF9250-A6D3-6BF5-D836-070C4D432CC9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713669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C67B7BA-7D3D-548A-97C6-A4DA899270C0}"/>
              </a:ext>
            </a:extLst>
          </p:cNvPr>
          <p:cNvSpPr txBox="1"/>
          <p:nvPr/>
        </p:nvSpPr>
        <p:spPr>
          <a:xfrm>
            <a:off x="762000" y="457200"/>
            <a:ext cx="1066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300" b="1">
                <a:solidFill>
                  <a:srgbClr val="F5A623"/>
                </a:solidFill>
                <a:latin typeface="Calibri" panose="020F0502020204030204" pitchFamily="34" charset="0"/>
              </a:rPr>
              <a:t>DAYANIKLILIK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0943A8A-6851-8E30-6D32-2BE34ED93CC1}"/>
              </a:ext>
            </a:extLst>
          </p:cNvPr>
          <p:cNvSpPr txBox="1"/>
          <p:nvPr/>
        </p:nvSpPr>
        <p:spPr>
          <a:xfrm>
            <a:off x="762000" y="812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b="1" dirty="0">
                <a:solidFill>
                  <a:srgbClr val="EEF3FB"/>
                </a:solidFill>
                <a:latin typeface="Calibri" panose="020F0502020204030204" pitchFamily="34" charset="0"/>
              </a:rPr>
              <a:t>Gerçek veri geldiğinde güvenlik ağı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EA453A7-7946-F68E-2F4B-7E001D54B398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000" dirty="0">
                <a:solidFill>
                  <a:srgbClr val="EEF3FB"/>
                </a:solidFill>
                <a:latin typeface="Calibri" panose="020F0502020204030204" pitchFamily="34" charset="0"/>
              </a:rPr>
              <a:t>• </a:t>
            </a:r>
            <a:r>
              <a:rPr lang="tr-TR" sz="2000" dirty="0" err="1">
                <a:solidFill>
                  <a:srgbClr val="EEF3FB"/>
                </a:solidFill>
                <a:latin typeface="Calibri" panose="020F0502020204030204" pitchFamily="34" charset="0"/>
              </a:rPr>
              <a:t>Polly</a:t>
            </a:r>
            <a:r>
              <a:rPr lang="tr-TR" sz="2000" dirty="0">
                <a:solidFill>
                  <a:srgbClr val="EEF3FB"/>
                </a:solidFill>
                <a:latin typeface="Calibri" panose="020F0502020204030204" pitchFamily="34" charset="0"/>
              </a:rPr>
              <a:t>: 3 deneme, 2s / 4s / 8s 
• Bir yorum patlarsa tur kesilmez
• Tur başına en fazla 50 yorum; kalanı sonraki tura kalır
• </a:t>
            </a:r>
            <a:r>
              <a:rPr lang="tr-TR" sz="2000" dirty="0" err="1">
                <a:solidFill>
                  <a:srgbClr val="EEF3FB"/>
                </a:solidFill>
                <a:latin typeface="Calibri" panose="020F0502020204030204" pitchFamily="34" charset="0"/>
              </a:rPr>
              <a:t>sync_state</a:t>
            </a:r>
            <a:r>
              <a:rPr lang="tr-TR" sz="2000" dirty="0">
                <a:solidFill>
                  <a:srgbClr val="EEF3FB"/>
                </a:solidFill>
                <a:latin typeface="Calibri" panose="020F0502020204030204" pitchFamily="34" charset="0"/>
              </a:rPr>
              <a:t> işlenen son yorumun tarihiyle ilerler — kayıt kaybolmaz
• /</a:t>
            </a:r>
            <a:r>
              <a:rPr lang="tr-TR" sz="2000" dirty="0" err="1">
                <a:solidFill>
                  <a:srgbClr val="EEF3FB"/>
                </a:solidFill>
                <a:latin typeface="Calibri" panose="020F0502020204030204" pitchFamily="34" charset="0"/>
              </a:rPr>
              <a:t>health</a:t>
            </a:r>
            <a:r>
              <a:rPr lang="tr-TR" sz="2000" dirty="0">
                <a:solidFill>
                  <a:srgbClr val="EEF3FB"/>
                </a:solidFill>
                <a:latin typeface="Calibri" panose="020F0502020204030204" pitchFamily="34" charset="0"/>
              </a:rPr>
              <a:t> → </a:t>
            </a:r>
            <a:r>
              <a:rPr lang="tr-TR" sz="2000" dirty="0" err="1">
                <a:solidFill>
                  <a:srgbClr val="EEF3FB"/>
                </a:solidFill>
                <a:latin typeface="Calibri" panose="020F0502020204030204" pitchFamily="34" charset="0"/>
              </a:rPr>
              <a:t>MongoDB</a:t>
            </a:r>
            <a:r>
              <a:rPr lang="tr-TR" sz="2000" dirty="0">
                <a:solidFill>
                  <a:srgbClr val="EEF3FB"/>
                </a:solidFill>
                <a:latin typeface="Calibri" panose="020F0502020204030204" pitchFamily="34" charset="0"/>
              </a:rPr>
              <a:t> sağlığı JSON olarak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E8D8732-9B06-F9F2-5D4E-6FF5B10CE694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0C19F54-B0D0-0491-6B9F-1BF4DD659219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282284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F2F473C2-0F0E-6055-F0DC-55C9247CD7C9}"/>
              </a:ext>
            </a:extLst>
          </p:cNvPr>
          <p:cNvSpPr txBox="1"/>
          <p:nvPr/>
        </p:nvSpPr>
        <p:spPr>
          <a:xfrm>
            <a:off x="762000" y="968477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3200" b="1" dirty="0">
                <a:solidFill>
                  <a:srgbClr val="F5A623"/>
                </a:solidFill>
                <a:latin typeface="Calibri" panose="020F0502020204030204" pitchFamily="34" charset="0"/>
              </a:rPr>
              <a:t>CANLI DEMO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BE495F-0488-70AF-714F-3DE6E9C78282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000">
                <a:solidFill>
                  <a:srgbClr val="EEF3FB"/>
                </a:solidFill>
                <a:latin typeface="Calibri" panose="020F0502020204030204" pitchFamily="34" charset="0"/>
              </a:rPr>
              <a:t>1. Program.cs'te LiveDemoReviewProvider'ı aç
2. dotnet run --project ReviewAgent.Worker
3. Hangfire: localhost:5000/hangfire → ingestion-job → Şimdi tetikle
4. Slack'te kritik alert + günlük özet
5. Bitince demoyu kapat (her tur 3 Anthropic çağrısı)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95217DB-8935-091A-7832-B37F8B5DC973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23F02C9-CC49-0D1D-83D0-5E7323FE57B3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2776662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2E11F726-15F3-92BE-AADC-D97A6C18DDF5}"/>
              </a:ext>
            </a:extLst>
          </p:cNvPr>
          <p:cNvSpPr txBox="1"/>
          <p:nvPr/>
        </p:nvSpPr>
        <p:spPr>
          <a:xfrm>
            <a:off x="762000" y="457200"/>
            <a:ext cx="1066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300" b="1">
                <a:solidFill>
                  <a:srgbClr val="F5A623"/>
                </a:solidFill>
                <a:latin typeface="Calibri" panose="020F0502020204030204" pitchFamily="34" charset="0"/>
              </a:rPr>
              <a:t>DURUM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2D4BFB6-F686-7B48-5E4A-67F56FF374F2}"/>
              </a:ext>
            </a:extLst>
          </p:cNvPr>
          <p:cNvSpPr txBox="1"/>
          <p:nvPr/>
        </p:nvSpPr>
        <p:spPr>
          <a:xfrm>
            <a:off x="762000" y="1085334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800" b="1" dirty="0">
                <a:solidFill>
                  <a:srgbClr val="EEF3FB"/>
                </a:solidFill>
                <a:latin typeface="Calibri" panose="020F0502020204030204" pitchFamily="34" charset="0"/>
              </a:rPr>
              <a:t>Neredeyiz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749DA49-20DC-1EC4-2758-3CF21AE53925}"/>
              </a:ext>
            </a:extLst>
          </p:cNvPr>
          <p:cNvSpPr txBox="1"/>
          <p:nvPr/>
        </p:nvSpPr>
        <p:spPr>
          <a:xfrm>
            <a:off x="762000" y="2032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b="1" dirty="0">
                <a:solidFill>
                  <a:srgbClr val="3DD68C"/>
                </a:solidFill>
                <a:latin typeface="Calibri" panose="020F0502020204030204" pitchFamily="34" charset="0"/>
              </a:rPr>
              <a:t>Hazır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86CD02B-FC6E-C6D2-FB97-40EA9245CBF9}"/>
              </a:ext>
            </a:extLst>
          </p:cNvPr>
          <p:cNvSpPr txBox="1"/>
          <p:nvPr/>
        </p:nvSpPr>
        <p:spPr>
          <a:xfrm>
            <a:off x="2667000" y="2032000"/>
            <a:ext cx="863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EEF3FB"/>
                </a:solidFill>
                <a:latin typeface="Calibri" panose="020F0502020204030204" pitchFamily="34" charset="0"/>
              </a:rPr>
              <a:t>Worker, Mongo, AI, Slack, Hangfire, health, testler</a:t>
            </a:r>
            <a:endParaRPr lang="tr-TR">
              <a:solidFill>
                <a:srgbClr val="EEF3F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FABD9A7-3436-7A61-CBF1-9FE4BDDD6D18}"/>
              </a:ext>
            </a:extLst>
          </p:cNvPr>
          <p:cNvSpPr txBox="1"/>
          <p:nvPr/>
        </p:nvSpPr>
        <p:spPr>
          <a:xfrm>
            <a:off x="762000" y="2794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b="1" dirty="0">
                <a:solidFill>
                  <a:srgbClr val="3DD68C"/>
                </a:solidFill>
                <a:latin typeface="Calibri" panose="020F0502020204030204" pitchFamily="34" charset="0"/>
              </a:rPr>
              <a:t>Hazır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519BE60-A19E-3C14-493F-5D6982C3B147}"/>
              </a:ext>
            </a:extLst>
          </p:cNvPr>
          <p:cNvSpPr txBox="1"/>
          <p:nvPr/>
        </p:nvSpPr>
        <p:spPr>
          <a:xfrm>
            <a:off x="2667000" y="2794000"/>
            <a:ext cx="863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EEF3FB"/>
                </a:solidFill>
                <a:latin typeface="Calibri" panose="020F0502020204030204" pitchFamily="34" charset="0"/>
              </a:rPr>
              <a:t>Connector kodu (App Store / Play)</a:t>
            </a:r>
            <a:endParaRPr lang="tr-TR">
              <a:solidFill>
                <a:srgbClr val="EEF3F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F336FD0-0721-2FBC-28ED-A4F98ED7714B}"/>
              </a:ext>
            </a:extLst>
          </p:cNvPr>
          <p:cNvSpPr txBox="1"/>
          <p:nvPr/>
        </p:nvSpPr>
        <p:spPr>
          <a:xfrm>
            <a:off x="762000" y="3556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b="1">
                <a:solidFill>
                  <a:srgbClr val="F0C14B"/>
                </a:solidFill>
                <a:latin typeface="Calibri" panose="020F0502020204030204" pitchFamily="34" charset="0"/>
              </a:rPr>
              <a:t>Bekliyor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B1184C1-FB6D-547C-472B-78DD86531638}"/>
              </a:ext>
            </a:extLst>
          </p:cNvPr>
          <p:cNvSpPr txBox="1"/>
          <p:nvPr/>
        </p:nvSpPr>
        <p:spPr>
          <a:xfrm>
            <a:off x="2667000" y="3556000"/>
            <a:ext cx="863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>
                <a:solidFill>
                  <a:srgbClr val="EEF3FB"/>
                </a:solidFill>
                <a:latin typeface="Calibri" panose="020F0502020204030204" pitchFamily="34" charset="0"/>
              </a:rPr>
              <a:t>Bithero store credential'ları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41EBF16-2B20-8350-7A6A-E2AEE6FDCFD4}"/>
              </a:ext>
            </a:extLst>
          </p:cNvPr>
          <p:cNvSpPr txBox="1"/>
          <p:nvPr/>
        </p:nvSpPr>
        <p:spPr>
          <a:xfrm>
            <a:off x="762000" y="48260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600">
                <a:solidFill>
                  <a:srgbClr val="9AABC4"/>
                </a:solidFill>
                <a:latin typeface="Calibri" panose="020F0502020204030204" pitchFamily="34" charset="0"/>
              </a:rPr>
              <a:t>Credential gelince DI kaydı değişir. İş mantığı aynı kalır.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240595F0-E63F-F5C8-D6F3-896AD7716A1F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1BAF56C3-73FB-FC20-F4A4-F1691C1D892B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2598128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8E11198-7F19-D63E-0A36-F3114C865981}"/>
              </a:ext>
            </a:extLst>
          </p:cNvPr>
          <p:cNvSpPr txBox="1"/>
          <p:nvPr/>
        </p:nvSpPr>
        <p:spPr>
          <a:xfrm>
            <a:off x="762000" y="2540000"/>
            <a:ext cx="10668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4400" b="1" dirty="0">
                <a:solidFill>
                  <a:srgbClr val="EEF3FB"/>
                </a:solidFill>
                <a:latin typeface="Calibri" panose="020F0502020204030204" pitchFamily="34" charset="0"/>
              </a:rPr>
              <a:t>Sorularınız varsa cevaplayabilirim ?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40C6B23-38D7-B6B6-8BF0-FA33ED3DBD01}"/>
              </a:ext>
            </a:extLst>
          </p:cNvPr>
          <p:cNvSpPr txBox="1"/>
          <p:nvPr/>
        </p:nvSpPr>
        <p:spPr>
          <a:xfrm>
            <a:off x="508000" y="6350000"/>
            <a:ext cx="635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Store Review Intelligence Agent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EF8D010-BD4D-8E80-9A34-98D3D967EF2B}"/>
              </a:ext>
            </a:extLst>
          </p:cNvPr>
          <p:cNvSpPr txBox="1"/>
          <p:nvPr/>
        </p:nvSpPr>
        <p:spPr>
          <a:xfrm>
            <a:off x="10414000" y="6350000"/>
            <a:ext cx="127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tr-TR" sz="1100">
                <a:solidFill>
                  <a:srgbClr val="9AABC4"/>
                </a:solidFill>
                <a:latin typeface="Calibri" panose="020F0502020204030204" pitchFamily="34" charset="0"/>
              </a:rPr>
              <a:t>11 / 11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9BA39AF2-FF76-FB22-4A60-2EE1BBDDA84C}"/>
              </a:ext>
            </a:extLst>
          </p:cNvPr>
          <p:cNvSpPr txBox="1"/>
          <p:nvPr/>
        </p:nvSpPr>
        <p:spPr>
          <a:xfrm>
            <a:off x="762000" y="3645376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000" dirty="0">
                <a:solidFill>
                  <a:srgbClr val="9AABC4"/>
                </a:solidFill>
                <a:latin typeface="Calibri" panose="020F0502020204030204" pitchFamily="34" charset="0"/>
              </a:rPr>
              <a:t>NAİME ELİF AYDIN </a:t>
            </a:r>
            <a:r>
              <a:rPr lang="en-US" sz="2000" dirty="0">
                <a:solidFill>
                  <a:srgbClr val="9AABC4"/>
                </a:solidFill>
                <a:latin typeface="Calibri" panose="020F0502020204030204" pitchFamily="34" charset="0"/>
              </a:rPr>
              <a:t>·  </a:t>
            </a:r>
            <a:r>
              <a:rPr lang="en-US" sz="2000" dirty="0" err="1">
                <a:solidFill>
                  <a:srgbClr val="9AABC4"/>
                </a:solidFill>
                <a:latin typeface="Calibri" panose="020F0502020204030204" pitchFamily="34" charset="0"/>
              </a:rPr>
              <a:t>BtcTurk</a:t>
            </a:r>
            <a:r>
              <a:rPr lang="tr-TR" sz="2000" dirty="0">
                <a:solidFill>
                  <a:srgbClr val="9AABC4"/>
                </a:solidFill>
                <a:latin typeface="Calibri" panose="020F0502020204030204" pitchFamily="34" charset="0"/>
              </a:rPr>
              <a:t> Teknoloji Stajyer</a:t>
            </a:r>
          </a:p>
        </p:txBody>
      </p:sp>
    </p:spTree>
    <p:extLst>
      <p:ext uri="{BB962C8B-B14F-4D97-AF65-F5344CB8AC3E}">
        <p14:creationId xmlns:p14="http://schemas.microsoft.com/office/powerpoint/2010/main" val="706471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551</Words>
  <Application>Microsoft Office PowerPoint</Application>
  <PresentationFormat>Geniş ekran</PresentationFormat>
  <Paragraphs>85</Paragraphs>
  <Slides>11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Naime Elif Aydın</dc:creator>
  <cp:lastModifiedBy>Naime Elif Aydın</cp:lastModifiedBy>
  <cp:revision>6</cp:revision>
  <dcterms:created xsi:type="dcterms:W3CDTF">2026-08-26T09:32:59Z</dcterms:created>
  <dcterms:modified xsi:type="dcterms:W3CDTF">2026-08-26T12:10:10Z</dcterms:modified>
</cp:coreProperties>
</file>